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0E"/>
          </a:solidFill>
          <a:ln>
            <a:solidFill>
              <a:srgbClr val="11110E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IF201 Science, Politics and Engineering of Food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1450000"/>
            <a:ext cx="76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6200" i="1">
                <a:solidFill>
                  <a:srgbClr val="F4EFE4"/>
                </a:solidFill>
                <a:latin typeface="Georgia"/>
              </a:rPr>
              <a:t>TasteData</a:t>
            </a:r>
            <a:endParaRPr lang="en-US" sz="6200"/>
          </a:p>
        </p:txBody>
      </p:sp>
      <p:sp>
        <p:nvSpPr>
          <p:cNvPr id="14" name="Subtitle"/>
          <p:cNvSpPr txBox="1"/>
          <p:nvPr/>
        </p:nvSpPr>
        <p:spPr>
          <a:xfrm>
            <a:off x="533400" y="242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2300">
                <a:solidFill>
                  <a:srgbClr val="C8B97A"/>
                </a:solidFill>
                <a:latin typeface="Aptos"/>
              </a:rPr>
              <a:t>Hearing and seeing food from another angle</a:t>
            </a:r>
            <a:endParaRPr lang="en-US" sz="2300"/>
          </a:p>
        </p:txBody>
      </p:sp>
      <p:sp>
        <p:nvSpPr>
          <p:cNvPr id="15" name="Bullets"/>
          <p:cNvSpPr txBox="1"/>
          <p:nvPr/>
        </p:nvSpPr>
        <p:spPr>
          <a:xfrm>
            <a:off x="838200" y="3580000"/>
            <a:ext cx="82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DED7C8"/>
                </a:solidFill>
                <a:latin typeface="Aptos"/>
              </a:rPr>
              <a:t>Algorithmic translation of food chemistry into music and future visuals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DED7C8"/>
                </a:solidFill>
                <a:latin typeface="Aptos"/>
              </a:rPr>
              <a:t>Demo presentation for a non-technical food studies audience</a:t>
            </a:r>
          </a:p>
        </p:txBody>
      </p:sp>
      <p:sp>
        <p:nvSpPr>
          <p:cNvPr id="16" name="SensorStrip"/>
          <p:cNvSpPr/>
          <p:nvPr/>
        </p:nvSpPr>
        <p:spPr>
          <a:xfrm>
            <a:off x="800000" y="5650000"/>
            <a:ext cx="8400000" cy="280000"/>
          </a:xfrm>
          <a:prstGeom prst="roundRect">
            <a:avLst/>
          </a:prstGeom>
          <a:solidFill>
            <a:srgbClr val="2B2A22"/>
          </a:solidFill>
          <a:ln>
            <a:solidFill>
              <a:srgbClr val="2B2A22"/>
            </a:solidFill>
          </a:ln>
        </p:spPr>
        <p:txBody>
          <a:bodyPr/>
          <a:lstStyle/>
          <a:p/>
        </p:txBody>
      </p:sp>
      <p:sp>
        <p:nvSpPr>
          <p:cNvPr id="17" name="Sensors"/>
          <p:cNvSpPr txBox="1"/>
          <p:nvPr/>
        </p:nvSpPr>
        <p:spPr>
          <a:xfrm>
            <a:off x="1100000" y="5705000"/>
            <a:ext cx="78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50">
                <a:solidFill>
                  <a:srgbClr val="C8B97A"/>
                </a:solidFill>
                <a:latin typeface="Aptos"/>
              </a:rPr>
              <a:t>mass  /  pH  /  temperature  /  salinity  /  color  /  place</a:t>
            </a:r>
            <a:endParaRPr lang="en-US" sz="1250"/>
          </a:p>
        </p:txBody>
      </p:sp>
      <p:sp>
        <p:nvSpPr>
          <p:cNvPr id="18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2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Research Question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Can measured food become an audiovisual language?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We usually understand food through tongue, smell, and memory.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TasteData asks whether sensors can help us listen to and see food.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The project turns mass, pH, temperature, salinity, color, and place into music prompts.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3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Why This Belongs In IF201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Food culture, sustainability, and interpretation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Food is biological: pH, heat, salinity, mass, and color are measurable.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Food is social: dishes travel, merge, and become contested cultural symbols.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Food is sustainable: better sensory awareness can support less wasteful, more respectful food decisions.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4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Methodology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Mixed method: sensors + cultural interpretation + generative media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Quantitative: sensor-like food readings are normalized into musical parameters.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Qualitative: dish name, cuisine, description, and notes are analyzed as cultural context.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Creative output: the system produces Suno-ready music stems now; visual generation is the next module.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5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How The Workflow Runs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From plate to prompt</a:t>
            </a:r>
            <a:endParaRPr lang="en-US" sz="1850"/>
          </a:p>
        </p:txBody>
      </p:sp>
      <p:sp>
        <p:nvSpPr>
          <p:cNvPr id="15" name="Flow0"/>
          <p:cNvSpPr/>
          <p:nvPr/>
        </p:nvSpPr>
        <p:spPr>
          <a:xfrm>
            <a:off x="762000" y="2800000"/>
            <a:ext cx="2200000" cy="980000"/>
          </a:xfrm>
          <a:prstGeom prst="roundRect">
            <a:avLst/>
          </a:prstGeom>
          <a:solidFill>
            <a:srgbClr val="20304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6" name="FlowTitle0"/>
          <p:cNvSpPr txBox="1"/>
          <p:nvPr/>
        </p:nvSpPr>
        <p:spPr>
          <a:xfrm>
            <a:off x="952000" y="3020000"/>
            <a:ext cx="1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600" b="1">
                <a:solidFill>
                  <a:srgbClr val="F4EFE4"/>
                </a:solidFill>
                <a:latin typeface="Aptos"/>
              </a:rPr>
              <a:t>Meal + context</a:t>
            </a:r>
            <a:endParaRPr lang="en-US" sz="1600"/>
          </a:p>
        </p:txBody>
      </p:sp>
      <p:sp>
        <p:nvSpPr>
          <p:cNvPr id="17" name="FlowSub0"/>
          <p:cNvSpPr txBox="1"/>
          <p:nvPr/>
        </p:nvSpPr>
        <p:spPr>
          <a:xfrm>
            <a:off x="952000" y="3350000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50">
                <a:solidFill>
                  <a:srgbClr val="B9B4A6"/>
                </a:solidFill>
                <a:latin typeface="Aptos"/>
              </a:rPr>
              <a:t>dish name, place, notes</a:t>
            </a:r>
            <a:endParaRPr lang="en-US" sz="1150"/>
          </a:p>
        </p:txBody>
      </p:sp>
      <p:cxnSp>
        <p:nvCxnSpPr>
          <p:cNvPr id="18" name="Connector"/>
          <p:cNvCxnSpPr/>
          <p:nvPr/>
        </p:nvCxnSpPr>
        <p:spPr>
          <a:xfrm>
            <a:off x="2962000" y="3290000"/>
            <a:ext cx="500000" cy="0"/>
          </a:xfrm>
          <a:prstGeom prst="line">
            <a:avLst/>
          </a:prstGeom>
          <a:ln w="25400">
            <a:solidFill>
              <a:srgbClr val="C8B97A"/>
            </a:solidFill>
          </a:ln>
        </p:spPr>
      </p:cxnSp>
      <p:sp>
        <p:nvSpPr>
          <p:cNvPr id="19" name="Flow1"/>
          <p:cNvSpPr/>
          <p:nvPr/>
        </p:nvSpPr>
        <p:spPr>
          <a:xfrm>
            <a:off x="3462000" y="2800000"/>
            <a:ext cx="2200000" cy="980000"/>
          </a:xfrm>
          <a:prstGeom prst="roundRect">
            <a:avLst/>
          </a:prstGeom>
          <a:solidFill>
            <a:srgbClr val="24251F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20" name="FlowTitle1"/>
          <p:cNvSpPr txBox="1"/>
          <p:nvPr/>
        </p:nvSpPr>
        <p:spPr>
          <a:xfrm>
            <a:off x="3652000" y="3020000"/>
            <a:ext cx="1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600" b="1">
                <a:solidFill>
                  <a:srgbClr val="F4EFE4"/>
                </a:solidFill>
                <a:latin typeface="Aptos"/>
              </a:rPr>
              <a:t>Six readings</a:t>
            </a:r>
            <a:endParaRPr lang="en-US" sz="1600"/>
          </a:p>
        </p:txBody>
      </p:sp>
      <p:sp>
        <p:nvSpPr>
          <p:cNvPr id="21" name="FlowSub1"/>
          <p:cNvSpPr txBox="1"/>
          <p:nvPr/>
        </p:nvSpPr>
        <p:spPr>
          <a:xfrm>
            <a:off x="3652000" y="3350000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50">
                <a:solidFill>
                  <a:srgbClr val="B9B4A6"/>
                </a:solidFill>
                <a:latin typeface="Aptos"/>
              </a:rPr>
              <a:t>mass, pH, heat, TDS, color, place</a:t>
            </a:r>
            <a:endParaRPr lang="en-US" sz="1150"/>
          </a:p>
        </p:txBody>
      </p:sp>
      <p:cxnSp>
        <p:nvCxnSpPr>
          <p:cNvPr id="22" name="Connector"/>
          <p:cNvCxnSpPr/>
          <p:nvPr/>
        </p:nvCxnSpPr>
        <p:spPr>
          <a:xfrm>
            <a:off x="5662000" y="3290000"/>
            <a:ext cx="500000" cy="0"/>
          </a:xfrm>
          <a:prstGeom prst="line">
            <a:avLst/>
          </a:prstGeom>
          <a:ln w="25400">
            <a:solidFill>
              <a:srgbClr val="C8B97A"/>
            </a:solidFill>
          </a:ln>
        </p:spPr>
      </p:cxnSp>
      <p:sp>
        <p:nvSpPr>
          <p:cNvPr id="23" name="Flow2"/>
          <p:cNvSpPr/>
          <p:nvPr/>
        </p:nvSpPr>
        <p:spPr>
          <a:xfrm>
            <a:off x="6162000" y="2800000"/>
            <a:ext cx="2200000" cy="980000"/>
          </a:xfrm>
          <a:prstGeom prst="roundRect">
            <a:avLst/>
          </a:prstGeom>
          <a:solidFill>
            <a:srgbClr val="20304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24" name="FlowTitle2"/>
          <p:cNvSpPr txBox="1"/>
          <p:nvPr/>
        </p:nvSpPr>
        <p:spPr>
          <a:xfrm>
            <a:off x="6352000" y="3020000"/>
            <a:ext cx="1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600" b="1">
                <a:solidFill>
                  <a:srgbClr val="F4EFE4"/>
                </a:solidFill>
                <a:latin typeface="Aptos"/>
              </a:rPr>
              <a:t>Two profiles</a:t>
            </a:r>
            <a:endParaRPr lang="en-US" sz="1600"/>
          </a:p>
        </p:txBody>
      </p:sp>
      <p:sp>
        <p:nvSpPr>
          <p:cNvPr id="25" name="FlowSub2"/>
          <p:cNvSpPr txBox="1"/>
          <p:nvPr/>
        </p:nvSpPr>
        <p:spPr>
          <a:xfrm>
            <a:off x="6352000" y="3350000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50">
                <a:solidFill>
                  <a:srgbClr val="B9B4A6"/>
                </a:solidFill>
                <a:latin typeface="Aptos"/>
              </a:rPr>
              <a:t>sensory map + origin/fusion</a:t>
            </a:r>
            <a:endParaRPr lang="en-US" sz="1150"/>
          </a:p>
        </p:txBody>
      </p:sp>
      <p:cxnSp>
        <p:nvCxnSpPr>
          <p:cNvPr id="26" name="Connector"/>
          <p:cNvCxnSpPr/>
          <p:nvPr/>
        </p:nvCxnSpPr>
        <p:spPr>
          <a:xfrm>
            <a:off x="8362000" y="3290000"/>
            <a:ext cx="500000" cy="0"/>
          </a:xfrm>
          <a:prstGeom prst="line">
            <a:avLst/>
          </a:prstGeom>
          <a:ln w="25400">
            <a:solidFill>
              <a:srgbClr val="C8B97A"/>
            </a:solidFill>
          </a:ln>
        </p:spPr>
      </p:cxnSp>
      <p:sp>
        <p:nvSpPr>
          <p:cNvPr id="27" name="Flow3"/>
          <p:cNvSpPr/>
          <p:nvPr/>
        </p:nvSpPr>
        <p:spPr>
          <a:xfrm>
            <a:off x="8862000" y="2800000"/>
            <a:ext cx="2200000" cy="980000"/>
          </a:xfrm>
          <a:prstGeom prst="roundRect">
            <a:avLst/>
          </a:prstGeom>
          <a:solidFill>
            <a:srgbClr val="24251F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28" name="FlowTitle3"/>
          <p:cNvSpPr txBox="1"/>
          <p:nvPr/>
        </p:nvSpPr>
        <p:spPr>
          <a:xfrm>
            <a:off x="9052000" y="3020000"/>
            <a:ext cx="18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600" b="1">
                <a:solidFill>
                  <a:srgbClr val="F4EFE4"/>
                </a:solidFill>
                <a:latin typeface="Aptos"/>
              </a:rPr>
              <a:t>Media prompt</a:t>
            </a:r>
            <a:endParaRPr lang="en-US" sz="1600"/>
          </a:p>
        </p:txBody>
      </p:sp>
      <p:sp>
        <p:nvSpPr>
          <p:cNvPr id="29" name="FlowSub3"/>
          <p:cNvSpPr txBox="1"/>
          <p:nvPr/>
        </p:nvSpPr>
        <p:spPr>
          <a:xfrm>
            <a:off x="9052000" y="3350000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150">
                <a:solidFill>
                  <a:srgbClr val="B9B4A6"/>
                </a:solidFill>
                <a:latin typeface="Aptos"/>
              </a:rPr>
              <a:t>Suno stems now, visuals next</a:t>
            </a:r>
            <a:endParaRPr lang="en-US" sz="1150"/>
          </a:p>
        </p:txBody>
      </p:sp>
      <p:sp>
        <p:nvSpPr>
          <p:cNvPr id="30" name="Fallback"/>
          <p:cNvSpPr txBox="1"/>
          <p:nvPr/>
        </p:nvSpPr>
        <p:spPr>
          <a:xfrm>
            <a:off x="1980000" y="4700000"/>
            <a:ext cx="8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700">
                <a:solidFill>
                  <a:srgbClr val="B9B4A6"/>
                </a:solidFill>
                <a:latin typeface="Aptos"/>
              </a:rPr>
              <a:t>If Claude is unavailable, deterministic local output still appears.</a:t>
            </a:r>
            <a:endParaRPr lang="en-US" sz="1700"/>
          </a:p>
        </p:txBody>
      </p:sp>
      <p:sp>
        <p:nvSpPr>
          <p:cNvPr id="31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6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What The Code Shows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The CS professor report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The app is a static web interface with six food inputs.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Local JavaScript first creates a deterministic sensory profile, so the result does not depend only on AI.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Claude is used as a language composer for Suno prompts, with schema repair and fallback output if the API fails.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Tests check boundary cases such as hot soup, cold salad, alkaline stew, and invalid sensor values.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7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What Is This Food’s Ethnicity?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The sociology and food culture report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The system avoids treating origin as one clean owner.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Example: mantı, mandu, dumpling, ravioli, pierogi, and jiaozi are different cultural forms of filled dough.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TasteData represents this as shared lineage and weighted cultural influence, not as a winner-takes-all claim.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Origin enriches rhythm, instrumentation, and narrative, but it never overrides measured food data.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8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Sustainability Connection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Making hidden food information easier to discuss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Sensor readings can reveal preservation, freshness, saltiness, heat, and preparation differences.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Cultural-origin analysis encourages respect for shared food heritage instead of narrow ownership claims.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Audiovisual translation can make food data more accessible in education, public demos, and community discussion.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Future tests can compare meals, leftovers, preparation styles, and storage conditions.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9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Current Results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What is already working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Sensor understanding code is implemented.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Ethnicity/origin analysis is implemented with curated dish families and Wikidata lookup.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Music generation code produces six stems and mix direction for Suno.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The browser demo can run locally; live Claude generation needs the API key/serverless runtime.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10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Limitations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What we should be honest about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The origin dataset is still small, so cultural analysis must be presented as an interpretation, not truth.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Sensor tests with real meals are just beginning this week.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Visual generation is not implemented yet.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AI-generated language can sound confident, so the code repairs structure but still requires human review.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11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Next Steps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Before the final demo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750">
                <a:solidFill>
                  <a:srgbClr val="F4EFE4"/>
                </a:solidFill>
                <a:latin typeface="Aptos"/>
              </a:rPr>
              <a:t>Test the first real meals with sensors this week.</a:t>
            </a:r>
          </a:p>
          <a:p>
            <a:pPr marL="285750" indent="-171450">
              <a:buChar char="•"/>
            </a:pPr>
            <a:r>
              <a:rPr lang="en-US" sz="1750">
                <a:solidFill>
                  <a:srgbClr val="F4EFE4"/>
                </a:solidFill>
                <a:latin typeface="Aptos"/>
              </a:rPr>
              <a:t>Compare sensor readings with the generated music outputs.</a:t>
            </a:r>
          </a:p>
          <a:p>
            <a:pPr marL="285750" indent="-171450">
              <a:buChar char="•"/>
            </a:pPr>
            <a:r>
              <a:rPr lang="en-US" sz="1750">
                <a:solidFill>
                  <a:srgbClr val="F4EFE4"/>
                </a:solidFill>
                <a:latin typeface="Aptos"/>
              </a:rPr>
              <a:t>Implement visual generation from the same six-input profile.</a:t>
            </a:r>
          </a:p>
          <a:p>
            <a:pPr marL="285750" indent="-171450">
              <a:buChar char="•"/>
            </a:pPr>
            <a:r>
              <a:rPr lang="en-US" sz="1750">
                <a:solidFill>
                  <a:srgbClr val="F4EFE4"/>
                </a:solidFill>
                <a:latin typeface="Aptos"/>
              </a:rPr>
              <a:t>Expand the origin/fusion dataset beyond tacos, dumplings, soups, and early examples.</a:t>
            </a:r>
          </a:p>
          <a:p>
            <a:pPr marL="285750" indent="-171450">
              <a:buChar char="•"/>
            </a:pPr>
            <a:r>
              <a:rPr lang="en-US" sz="1750">
                <a:solidFill>
                  <a:srgbClr val="F4EFE4"/>
                </a:solidFill>
                <a:latin typeface="Aptos"/>
              </a:rPr>
              <a:t>Prepare a final demo where the audience can hear and later see the plate.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512"/>
          </a:solidFill>
          <a:ln>
            <a:solidFill>
              <a:srgbClr val="151512"/>
            </a:solidFill>
          </a:ln>
        </p:spPr>
        <p:txBody>
          <a:bodyPr/>
          <a:lstStyle/>
          <a:p/>
        </p:txBody>
      </p:sp>
      <p:sp>
        <p:nvSpPr>
          <p:cNvPr id="11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8B97A"/>
          </a:solidFill>
          <a:ln>
            <a:solidFill>
              <a:srgbClr val="C8B97A"/>
            </a:solidFill>
          </a:ln>
        </p:spPr>
        <p:txBody>
          <a:bodyPr/>
          <a:lstStyle/>
          <a:p/>
        </p:txBody>
      </p:sp>
      <p:sp>
        <p:nvSpPr>
          <p:cNvPr id="12" name="DeckTag"/>
          <p:cNvSpPr txBox="1"/>
          <p:nvPr/>
        </p:nvSpPr>
        <p:spPr>
          <a:xfrm>
            <a:off x="533400" y="323850"/>
            <a:ext cx="6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C8B97A"/>
                </a:solidFill>
                <a:latin typeface="Aptos"/>
              </a:rPr>
              <a:t>TasteData / IF201 / 12</a:t>
            </a:r>
            <a:endParaRPr lang="en-US" sz="1200"/>
          </a:p>
        </p:txBody>
      </p:sp>
      <p:sp>
        <p:nvSpPr>
          <p:cNvPr id="13" name="Title"/>
          <p:cNvSpPr txBox="1"/>
          <p:nvPr/>
        </p:nvSpPr>
        <p:spPr>
          <a:xfrm>
            <a:off x="533400" y="82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>
                <a:solidFill>
                  <a:srgbClr val="F4EFE4"/>
                </a:solidFill>
                <a:latin typeface="Georgia"/>
              </a:rPr>
              <a:t>Conclusion</a:t>
            </a:r>
            <a:endParaRPr lang="en-US" sz="3900"/>
          </a:p>
        </p:txBody>
      </p:sp>
      <p:sp>
        <p:nvSpPr>
          <p:cNvPr id="14" name="Subtitle"/>
          <p:cNvSpPr txBox="1"/>
          <p:nvPr/>
        </p:nvSpPr>
        <p:spPr>
          <a:xfrm>
            <a:off x="533400" y="1470000"/>
            <a:ext cx="8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50">
                <a:solidFill>
                  <a:srgbClr val="C8B97A"/>
                </a:solidFill>
                <a:latin typeface="Aptos"/>
              </a:rPr>
              <a:t>TasteData is a different angle on food</a:t>
            </a:r>
            <a:endParaRPr lang="en-US" sz="1850"/>
          </a:p>
        </p:txBody>
      </p:sp>
      <p:sp>
        <p:nvSpPr>
          <p:cNvPr id="15" name="Bullets"/>
          <p:cNvSpPr txBox="1"/>
          <p:nvPr/>
        </p:nvSpPr>
        <p:spPr>
          <a:xfrm>
            <a:off x="762000" y="2320000"/>
            <a:ext cx="1015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It translates food from taste into sound and future visuals.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It connects biology, engineering, culture, and sustainability in one demo.</a:t>
            </a:r>
          </a:p>
          <a:p>
            <a:pPr marL="285750" indent="-171450">
              <a:buChar char="•"/>
            </a:pPr>
            <a:r>
              <a:rPr lang="en-US" sz="1900">
                <a:solidFill>
                  <a:srgbClr val="F4EFE4"/>
                </a:solidFill>
                <a:latin typeface="Aptos"/>
              </a:rPr>
              <a:t>It treats cultural identity carefully: foods can belong to histories, migrations, and communities at the same time.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33400" y="6430000"/>
            <a:ext cx="7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50">
                <a:solidFill>
                  <a:srgbClr val="77746A"/>
                </a:solidFill>
                <a:latin typeface="Aptos"/>
              </a:rPr>
              <a:t>Ada Sarabil / Can Yuzbey / Kutluhan Gok / Spring 2025-2026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steData">
  <a:themeElements>
    <a:clrScheme name="TasteData">
      <a:dk1>
        <a:srgbClr val="11110E"/>
      </a:dk1>
      <a:lt1>
        <a:srgbClr val="F4EFE4"/>
      </a:lt1>
      <a:dk2>
        <a:srgbClr val="151512"/>
      </a:dk2>
      <a:lt2>
        <a:srgbClr val="DED7C8"/>
      </a:lt2>
      <a:accent1>
        <a:srgbClr val="C8B97A"/>
      </a:accent1>
      <a:accent2>
        <a:srgbClr val="426A5A"/>
      </a:accent2>
      <a:accent3>
        <a:srgbClr val="5A6E9E"/>
      </a:accent3>
      <a:accent4>
        <a:srgbClr val="A05A4F"/>
      </a:accent4>
      <a:accent5>
        <a:srgbClr val="8A6F3A"/>
      </a:accent5>
      <a:accent6>
        <a:srgbClr val="B9B4A6"/>
      </a:accent6>
      <a:hlink>
        <a:srgbClr val="C8B97A"/>
      </a:hlink>
      <a:folHlink>
        <a:srgbClr val="8A6F3A"/>
      </a:folHlink>
    </a:clrScheme>
    <a:fontScheme name="TasteData">
      <a:majorFont>
        <a:latin typeface="Georgia"/>
      </a:majorFont>
      <a:minorFont>
        <a:latin typeface="Aptos"/>
      </a:minorFont>
    </a:fontScheme>
    <a:fmtScheme name="TasteData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TasteData IF201 Demo Presentation</dc:title>
  <dc:creator>Codex</dc:creator>
  <cp:lastModifiedBy>Codex</cp:lastModifiedBy>
  <dcterms:created xsi:type="dcterms:W3CDTF">2026-05-12T00:00:00Z</dcterms:created>
  <dcterms:modified xsi:type="dcterms:W3CDTF">2026-05-12T00:00:00Z</dcterms:modified>
</cp:coreProperties>
</file>